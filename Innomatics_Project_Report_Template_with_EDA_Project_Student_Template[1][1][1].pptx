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73" r:id="rId6"/>
    <p:sldId id="263" r:id="rId7"/>
    <p:sldId id="264" r:id="rId8"/>
    <p:sldId id="265" r:id="rId9"/>
    <p:sldId id="266" r:id="rId10"/>
    <p:sldId id="267" r:id="rId11"/>
    <p:sldId id="274" r:id="rId12"/>
  </p:sldIdLst>
  <p:sldSz cx="12192000" cy="6858000"/>
  <p:notesSz cx="6858000" cy="9144000"/>
  <p:embeddedFontLst>
    <p:embeddedFont>
      <p:font typeface="Candara" panose="020E0502030303020204" pitchFamily="34" charset="0"/>
      <p:regular r:id="rId14"/>
      <p:bold r:id="rId15"/>
      <p:italic r:id="rId16"/>
      <p:boldItalic r:id="rId17"/>
    </p:embeddedFont>
    <p:embeddedFont>
      <p:font typeface="Lato Black" panose="020F0502020204030203" pitchFamily="34" charset="0"/>
      <p:bold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24E3C441-2935-4101-B84C-E8D1CF3567B4}">
          <p14:sldIdLst>
            <p14:sldId id="256"/>
            <p14:sldId id="257"/>
            <p14:sldId id="258"/>
            <p14:sldId id="262"/>
            <p14:sldId id="273"/>
            <p14:sldId id="263"/>
            <p14:sldId id="264"/>
            <p14:sldId id="265"/>
            <p14:sldId id="266"/>
            <p14:sldId id="267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vikash-alala-78012030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vikashalala8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allpapers.com/thank-you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16329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581761" y="3717986"/>
            <a:ext cx="724618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b="1" i="1" dirty="0"/>
              <a:t>“Price Analysis of Laptops and Washing Machines on Flipkart”</a:t>
            </a:r>
            <a:endParaRPr sz="1800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464959" y="939557"/>
            <a:ext cx="10969775" cy="75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600" b="1" i="0" u="none" strike="noStrike" cap="none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Name : </a:t>
            </a:r>
            <a:r>
              <a:rPr lang="en-IN" sz="2600" i="0" u="none" strike="noStrike" cap="none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Alala Vikash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600" b="1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Education: 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600" i="0" u="none" strike="noStrike" cap="none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Final Year B.Tech. </a:t>
            </a:r>
            <a:r>
              <a:rPr lang="en-IN" sz="2600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student, Electronics &amp; Communication Engineering, SRKR Engineering College.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600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I strongly interested in Data Science , AI , and Machine Learning.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600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Passionate about analysing data and applying insights to real-world problems.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600" b="1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Experience/Projects: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600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Library Management System : Built by using Python and OOP concepts.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600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Flipkart Price Analysis : Scraped and analysed laptop and washing machine prices to find patterns and insights. 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600" b="1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Profiles: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600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LinkedIn: </a:t>
            </a:r>
            <a:r>
              <a:rPr lang="en-IN" sz="2600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  <a:hlinkClick r:id="rId3"/>
              </a:rPr>
              <a:t>https://www.linkedin.com/in/vikash-alala-780120304</a:t>
            </a:r>
            <a:endParaRPr lang="en-IN" sz="2600" dirty="0">
              <a:solidFill>
                <a:schemeClr val="dk1"/>
              </a:solidFill>
              <a:latin typeface="Candara" panose="020E0502030303020204" pitchFamily="34" charset="0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2600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</a:rPr>
              <a:t>GitHub: </a:t>
            </a:r>
            <a:r>
              <a:rPr lang="en-IN" sz="2600" dirty="0">
                <a:solidFill>
                  <a:schemeClr val="dk1"/>
                </a:solidFill>
                <a:latin typeface="Candara" panose="020E0502030303020204" pitchFamily="34" charset="0"/>
                <a:ea typeface="Calibri"/>
                <a:cs typeface="Calibri"/>
                <a:sym typeface="Calibri"/>
                <a:hlinkClick r:id="rId4"/>
              </a:rPr>
              <a:t>https://github.com/vikashalala8</a:t>
            </a:r>
            <a:endParaRPr lang="en-IN" sz="2600" dirty="0">
              <a:solidFill>
                <a:schemeClr val="dk1"/>
              </a:solidFill>
              <a:latin typeface="Candara" panose="020E0502030303020204" pitchFamily="34" charset="0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800"/>
            </a:pPr>
            <a:endParaRPr lang="en-IN" sz="2600" dirty="0">
              <a:solidFill>
                <a:schemeClr val="dk1"/>
              </a:solidFill>
              <a:latin typeface="Candara" panose="020E0502030303020204" pitchFamily="34" charset="0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1800"/>
            </a:pPr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757266" y="443652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1" i="0" u="none" strike="noStrike" cap="none" dirty="0">
                <a:solidFill>
                  <a:srgbClr val="C00000"/>
                </a:solidFill>
                <a:latin typeface="Candara" panose="020E0502030303020204" pitchFamily="34" charset="0"/>
                <a:ea typeface="Lato Black"/>
                <a:cs typeface="Lato Black"/>
                <a:sym typeface="Lato Black"/>
              </a:rPr>
              <a:t>About me</a:t>
            </a:r>
            <a:endParaRPr sz="1800" b="1" i="0" u="none" strike="noStrike" cap="none" dirty="0">
              <a:solidFill>
                <a:srgbClr val="C00000"/>
              </a:solidFill>
              <a:latin typeface="Candara" panose="020E0502030303020204" pitchFamily="3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IN" b="1" dirty="0"/>
              <a:t>  </a:t>
            </a:r>
            <a:r>
              <a:rPr lang="en-IN" b="1" dirty="0">
                <a:solidFill>
                  <a:srgbClr val="C00000"/>
                </a:solidFill>
              </a:rPr>
              <a:t>AGENDA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27DED-C3D2-6FEF-B2BF-25D0B6B8A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9210"/>
            <a:ext cx="10515600" cy="4486275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IN" sz="3500" b="1" dirty="0">
                <a:latin typeface="Candara" panose="020E0502030303020204" pitchFamily="34" charset="0"/>
              </a:rPr>
              <a:t>1. Business Problem &amp; Use Case</a:t>
            </a:r>
          </a:p>
          <a:p>
            <a:r>
              <a:rPr lang="en-US" dirty="0">
                <a:latin typeface="Candara" panose="020E0502030303020204" pitchFamily="34" charset="0"/>
              </a:rPr>
              <a:t>Pricing strongly influences buying decisions in e-commerce.</a:t>
            </a:r>
          </a:p>
          <a:p>
            <a:r>
              <a:rPr lang="en-US" dirty="0">
                <a:latin typeface="Candara" panose="020E0502030303020204" pitchFamily="34" charset="0"/>
              </a:rPr>
              <a:t>Flipkart shows wide variation across brands, specs, and categories.</a:t>
            </a:r>
          </a:p>
          <a:p>
            <a:r>
              <a:rPr lang="en-US" dirty="0">
                <a:latin typeface="Candara" panose="020E0502030303020204" pitchFamily="34" charset="0"/>
              </a:rPr>
              <a:t>Sellers and buyers struggle to judge value for money.</a:t>
            </a:r>
          </a:p>
          <a:p>
            <a:r>
              <a:rPr lang="en-US" b="1" dirty="0">
                <a:latin typeface="Candara" panose="020E0502030303020204" pitchFamily="34" charset="0"/>
              </a:rPr>
              <a:t>Use Cases:</a:t>
            </a:r>
            <a:endParaRPr lang="en-US" dirty="0">
              <a:latin typeface="Candara" panose="020E0502030303020204" pitchFamily="34" charset="0"/>
            </a:endParaRPr>
          </a:p>
          <a:p>
            <a:r>
              <a:rPr lang="en-US" b="1" dirty="0">
                <a:latin typeface="Candara" panose="020E0502030303020204" pitchFamily="34" charset="0"/>
              </a:rPr>
              <a:t>Sellers</a:t>
            </a:r>
            <a:r>
              <a:rPr lang="en-US" dirty="0">
                <a:latin typeface="Candara" panose="020E0502030303020204" pitchFamily="34" charset="0"/>
              </a:rPr>
              <a:t> → Competitive pricing strategy.</a:t>
            </a:r>
          </a:p>
          <a:p>
            <a:r>
              <a:rPr lang="en-US" b="1" dirty="0">
                <a:latin typeface="Candara" panose="020E0502030303020204" pitchFamily="34" charset="0"/>
              </a:rPr>
              <a:t>Customers</a:t>
            </a:r>
            <a:r>
              <a:rPr lang="en-US" dirty="0">
                <a:latin typeface="Candara" panose="020E0502030303020204" pitchFamily="34" charset="0"/>
              </a:rPr>
              <a:t> → Better purchase decisions.</a:t>
            </a:r>
          </a:p>
          <a:p>
            <a:r>
              <a:rPr lang="en-US" b="1" dirty="0">
                <a:latin typeface="Candara" panose="020E0502030303020204" pitchFamily="34" charset="0"/>
              </a:rPr>
              <a:t>Data Science</a:t>
            </a:r>
            <a:r>
              <a:rPr lang="en-US" dirty="0">
                <a:latin typeface="Candara" panose="020E0502030303020204" pitchFamily="34" charset="0"/>
              </a:rPr>
              <a:t> → Applying web scraping + analytics on real-world data.</a:t>
            </a:r>
          </a:p>
          <a:p>
            <a:pPr marL="628650" indent="-514350">
              <a:buAutoNum type="arabicPeriod"/>
            </a:pPr>
            <a:endParaRPr lang="en-IN" b="1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06A7-D83F-8B63-1574-94CCC51B8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2" y="174174"/>
            <a:ext cx="11140621" cy="72934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ndara" panose="020E0502030303020204" pitchFamily="34" charset="0"/>
              </a:rPr>
              <a:t>2. Objective of the Project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3EC59-2E57-1161-2C24-9FB93C910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990" y="903516"/>
            <a:ext cx="11778342" cy="5780312"/>
          </a:xfrm>
        </p:spPr>
        <p:txBody>
          <a:bodyPr>
            <a:normAutofit lnSpcReduction="10000"/>
          </a:bodyPr>
          <a:lstStyle/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Collect and analyze real product data from Flipkart.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Explore price differences across different categories &amp; brands.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Check if ratings/reviews influence prices.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Compare price variation in laptops vs washing machines.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Deliver business insights for sellers and customers.</a:t>
            </a:r>
            <a:endParaRPr lang="en-US" sz="2600" dirty="0">
              <a:latin typeface="Candara" panose="020E0502030303020204" pitchFamily="34" charset="0"/>
            </a:endParaRPr>
          </a:p>
          <a:p>
            <a:pPr marL="228600" indent="0"/>
            <a:r>
              <a:rPr lang="en-US" sz="3200" b="1" dirty="0">
                <a:solidFill>
                  <a:schemeClr val="tx1"/>
                </a:solidFill>
                <a:latin typeface="Candara" panose="020E0502030303020204" pitchFamily="34" charset="0"/>
              </a:rPr>
              <a:t>3.  Web Scraping - Details</a:t>
            </a:r>
          </a:p>
          <a:p>
            <a:pPr marL="5715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Website</a:t>
            </a: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 : Flipkart.com</a:t>
            </a:r>
          </a:p>
          <a:p>
            <a:pPr marL="5715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Tools used </a:t>
            </a: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: Python (BeautifulSoup,Requests,Pandas,Numpy,Regex).</a:t>
            </a:r>
          </a:p>
          <a:p>
            <a:pPr marL="5715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Process</a:t>
            </a: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 : Inspected product listings, identified target attributes.</a:t>
            </a:r>
          </a:p>
          <a:p>
            <a:pPr marL="5715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Extracted</a:t>
            </a: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 : Name, Brand, Category, Price, Rating etc.</a:t>
            </a:r>
          </a:p>
          <a:p>
            <a:pPr marL="5715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Managed pagination + dynamic loading.</a:t>
            </a:r>
          </a:p>
          <a:p>
            <a:pPr marL="5715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Saved into CSV for structured analysis.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sz="2600" dirty="0">
              <a:latin typeface="Candara" panose="020E0502030303020204" pitchFamily="34" charset="0"/>
            </a:endParaRPr>
          </a:p>
          <a:p>
            <a:pPr marL="228600" indent="0"/>
            <a:endParaRPr lang="en-US" sz="2600" dirty="0">
              <a:latin typeface="Candara" panose="020E0502030303020204" pitchFamily="34" charset="0"/>
            </a:endParaRPr>
          </a:p>
          <a:p>
            <a:pPr marL="228600" indent="0"/>
            <a:endParaRPr lang="en-US" sz="2600" dirty="0">
              <a:latin typeface="Candara" panose="020E0502030303020204" pitchFamily="34" charset="0"/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sz="2600" dirty="0">
              <a:latin typeface="Candara" panose="020E0502030303020204" pitchFamily="34" charset="0"/>
            </a:endParaRPr>
          </a:p>
          <a:p>
            <a:pPr marL="228600" indent="0"/>
            <a:endParaRPr lang="en-US" sz="2600" dirty="0">
              <a:latin typeface="Candara" panose="020E0502030303020204" pitchFamily="34" charset="0"/>
            </a:endParaRPr>
          </a:p>
          <a:p>
            <a:pPr marL="228600" indent="0"/>
            <a:endParaRPr lang="en-US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579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8A406-5F10-E830-669B-EF4DDD170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68" y="233680"/>
            <a:ext cx="10515600" cy="6604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ndara" panose="020E0502030303020204" pitchFamily="34" charset="0"/>
              </a:rPr>
              <a:t>4.Data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DF17D-67B6-2B7E-A654-55D646AFF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8404" y="894080"/>
            <a:ext cx="11778711" cy="5226104"/>
          </a:xfrm>
        </p:spPr>
        <p:txBody>
          <a:bodyPr/>
          <a:lstStyle/>
          <a:p>
            <a:pPr marL="114300" indent="0">
              <a:buNone/>
            </a:pPr>
            <a:r>
              <a:rPr lang="en-IN" sz="2600" b="1" dirty="0">
                <a:latin typeface="Candara" panose="020E0502030303020204" pitchFamily="34" charset="0"/>
              </a:rPr>
              <a:t>Total Records:</a:t>
            </a:r>
            <a:r>
              <a:rPr lang="en-IN" sz="2600" dirty="0">
                <a:latin typeface="Candara" panose="020E0502030303020204" pitchFamily="34" charset="0"/>
              </a:rPr>
              <a:t>800+</a:t>
            </a:r>
          </a:p>
          <a:p>
            <a:r>
              <a:rPr lang="en-IN" sz="2600" dirty="0">
                <a:latin typeface="Candara" panose="020E0502030303020204" pitchFamily="34" charset="0"/>
              </a:rPr>
              <a:t>Laptops are recorded 400+</a:t>
            </a:r>
          </a:p>
          <a:p>
            <a:r>
              <a:rPr lang="en-IN" sz="2600" dirty="0">
                <a:latin typeface="Candara" panose="020E0502030303020204" pitchFamily="34" charset="0"/>
              </a:rPr>
              <a:t>Washing Machines are recorded 400+</a:t>
            </a:r>
          </a:p>
          <a:p>
            <a:pPr marL="114300" indent="0">
              <a:buNone/>
            </a:pPr>
            <a:r>
              <a:rPr lang="en-IN" sz="2600" b="1" dirty="0">
                <a:latin typeface="Candara" panose="020E0502030303020204" pitchFamily="34" charset="0"/>
              </a:rPr>
              <a:t>Features Extracted:</a:t>
            </a:r>
          </a:p>
          <a:p>
            <a:r>
              <a:rPr lang="en-US" sz="2600" dirty="0">
                <a:latin typeface="Candara" panose="020E0502030303020204" pitchFamily="34" charset="0"/>
              </a:rPr>
              <a:t>Product, Brand, Category, Price, Rating, Reviews, Warranty, etc.…</a:t>
            </a:r>
          </a:p>
          <a:p>
            <a:pPr marL="114300" indent="0">
              <a:buNone/>
            </a:pPr>
            <a:r>
              <a:rPr lang="en-IN" sz="2600" b="1" dirty="0">
                <a:latin typeface="Candara" panose="020E0502030303020204" pitchFamily="34" charset="0"/>
              </a:rPr>
              <a:t>Price Range:</a:t>
            </a:r>
          </a:p>
          <a:p>
            <a:r>
              <a:rPr lang="en-IN" sz="2600" dirty="0">
                <a:latin typeface="Candara" panose="020E0502030303020204" pitchFamily="34" charset="0"/>
              </a:rPr>
              <a:t>Laptops: ₹18,000 – ₹2,00,000</a:t>
            </a:r>
          </a:p>
          <a:p>
            <a:r>
              <a:rPr lang="en-IN" sz="2600" dirty="0">
                <a:latin typeface="Candara" panose="020E0502030303020204" pitchFamily="34" charset="0"/>
              </a:rPr>
              <a:t>Washing Machines: ₹10,000 – ₹60,000</a:t>
            </a:r>
          </a:p>
          <a:p>
            <a:pPr marL="114300" indent="0">
              <a:buNone/>
            </a:pPr>
            <a:r>
              <a:rPr lang="en-US" sz="2600" b="1" dirty="0">
                <a:latin typeface="Candara" panose="020E0502030303020204" pitchFamily="34" charset="0"/>
              </a:rPr>
              <a:t>Note</a:t>
            </a:r>
            <a:r>
              <a:rPr lang="en-US" sz="2600" dirty="0">
                <a:latin typeface="Candara" panose="020E0502030303020204" pitchFamily="34" charset="0"/>
              </a:rPr>
              <a:t>: Some missing ratings &amp; reviews</a:t>
            </a:r>
            <a:r>
              <a:rPr lang="en-US" dirty="0">
                <a:latin typeface="Candara" panose="020E0502030303020204" pitchFamily="34" charset="0"/>
              </a:rPr>
              <a:t>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48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366E7-F3D6-4657-9553-650542679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58" y="163286"/>
            <a:ext cx="11347450" cy="898071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Exploratory Data Analysis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09961-257F-845A-2978-E0E46C10D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4043" y="1061357"/>
            <a:ext cx="11555185" cy="5633357"/>
          </a:xfrm>
        </p:spPr>
        <p:txBody>
          <a:bodyPr/>
          <a:lstStyle/>
          <a:p>
            <a:pPr marL="228600" indent="0"/>
            <a:r>
              <a:rPr lang="en-IN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a. Data Cleaning</a:t>
            </a:r>
            <a:endParaRPr lang="en-US" sz="2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Removed duplicates.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Converted price strings → numeric.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Standardized brand names like HP vs H.P.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Marked or filled missing ratings or reviews.</a:t>
            </a:r>
          </a:p>
          <a:p>
            <a:pPr marL="228600" indent="0"/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b. Data Manipulation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Created Category column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Extracted Brand name from product titles.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Segment prices into: Budget , Mid-range, Premium.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Aggregated average price per brand for comparison.</a:t>
            </a:r>
          </a:p>
          <a:p>
            <a:pPr marL="228600" indent="0"/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157909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33059-A3C6-3FFD-F606-0EB564DC3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99" y="557938"/>
            <a:ext cx="11778343" cy="6082347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1"/>
                </a:solidFill>
                <a:latin typeface="Candara" panose="020E0502030303020204" pitchFamily="34" charset="0"/>
              </a:rPr>
              <a:t>C. Univariate Analysis 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Price Distribution:</a:t>
            </a: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 Histograms show range &amp; skewness.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Brand Frequency:</a:t>
            </a: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 Count plots reveal market dominance.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Ratings Distribution:</a:t>
            </a: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 Bar charts show customer satisfaction.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Outliers:</a:t>
            </a: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 Box plots highlight extreme price points.</a:t>
            </a:r>
          </a:p>
          <a:p>
            <a:pPr marL="228600" indent="0"/>
            <a:r>
              <a:rPr lang="en-IN" sz="3200" b="1" dirty="0">
                <a:solidFill>
                  <a:schemeClr val="tx1"/>
                </a:solidFill>
                <a:latin typeface="Candara" panose="020E0502030303020204" pitchFamily="34" charset="0"/>
              </a:rPr>
              <a:t>D. Bivariate Analysis 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Price vs Rating:</a:t>
            </a: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 Scatter plots check relationship.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Brand vs Avg Price:</a:t>
            </a: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 Bar charts compare across companies.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Correlation Heatmap:</a:t>
            </a: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 Between price, rating, reviews.</a:t>
            </a:r>
          </a:p>
          <a:p>
            <a:pPr marL="6858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Category Comparison:</a:t>
            </a: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 Laptops show wider price spread than washing machines.</a:t>
            </a:r>
          </a:p>
          <a:p>
            <a:pPr marL="228600" indent="0"/>
            <a:endParaRPr lang="en-US" sz="2800" dirty="0"/>
          </a:p>
          <a:p>
            <a:pPr marL="228600" indent="0"/>
            <a:endParaRPr lang="en-IN" sz="2600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941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A57A9-0C05-A493-52EB-3340FC932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477" y="263471"/>
            <a:ext cx="11623729" cy="5826179"/>
          </a:xfrm>
        </p:spPr>
        <p:txBody>
          <a:bodyPr>
            <a:normAutofit lnSpcReduction="10000"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Candara" panose="020E0502030303020204" pitchFamily="34" charset="0"/>
              </a:rPr>
              <a:t>Key Business Questions</a:t>
            </a:r>
          </a:p>
          <a:p>
            <a:pPr marL="6858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Which brands dominate budget vs premium segments?</a:t>
            </a:r>
          </a:p>
          <a:p>
            <a:pPr marL="6858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Do higher ratings impact on higher prices?</a:t>
            </a:r>
          </a:p>
          <a:p>
            <a:pPr marL="6858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Which category shows more variation in prices?</a:t>
            </a:r>
          </a:p>
          <a:p>
            <a:pPr marL="6858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Which brands are most popular in each category?</a:t>
            </a:r>
          </a:p>
          <a:p>
            <a:pPr marL="228600" indent="0"/>
            <a:r>
              <a:rPr lang="en-US" sz="3200" b="1" dirty="0">
                <a:solidFill>
                  <a:srgbClr val="C00000"/>
                </a:solidFill>
                <a:latin typeface="Candara" panose="020E0502030303020204" pitchFamily="34" charset="0"/>
              </a:rPr>
              <a:t>Conclusion </a:t>
            </a:r>
          </a:p>
          <a:p>
            <a:pPr marL="685800" indent="-4572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Laptops show greater price variation than washing machines.</a:t>
            </a:r>
          </a:p>
          <a:p>
            <a:pPr marL="685800" indent="-4572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Apple dominates premium laptops example; HP/DELL cover mid range.</a:t>
            </a:r>
          </a:p>
          <a:p>
            <a:pPr marL="685800" indent="-4572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LG &amp; Samsung washing machines costlier than Whirlpool/IFB in mid range.</a:t>
            </a:r>
          </a:p>
          <a:p>
            <a:pPr marL="685800" indent="-4572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Candara" panose="020E0502030303020204" pitchFamily="34" charset="0"/>
              </a:rPr>
              <a:t>Ratings </a:t>
            </a:r>
            <a:r>
              <a:rPr lang="en-IN" sz="2800" dirty="0">
                <a:solidFill>
                  <a:schemeClr val="tx1"/>
                </a:solidFill>
                <a:latin typeface="Candara" panose="020E0502030303020204" pitchFamily="34" charset="0"/>
              </a:rPr>
              <a:t>not equal Price that means Higher rating doesn’t always mean higher price.</a:t>
            </a:r>
          </a:p>
          <a:p>
            <a:pPr marL="685800" indent="-4572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IN" sz="2800" dirty="0">
                <a:solidFill>
                  <a:schemeClr val="tx1"/>
                </a:solidFill>
                <a:latin typeface="Candara" panose="020E0502030303020204" pitchFamily="34" charset="0"/>
              </a:rPr>
              <a:t>Laptops get more reviews, showing higher customer engagement.</a:t>
            </a:r>
            <a:endParaRPr lang="en-US" sz="2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685800" indent="-457200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en-IN" sz="2600" b="1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endParaRPr lang="en-IN" sz="3200" b="1" dirty="0">
              <a:solidFill>
                <a:srgbClr val="C00000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8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1,238 Any questions Stock Vectors, Images &amp; Vector Art | Shutterstock">
            <a:extLst>
              <a:ext uri="{FF2B5EF4-FFF2-40B4-BE49-F238E27FC236}">
                <a16:creationId xmlns:a16="http://schemas.microsoft.com/office/drawing/2014/main" id="{F0A659AC-3B04-2CCF-281C-8E9E285929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059" b="10394"/>
          <a:stretch>
            <a:fillRect/>
          </a:stretch>
        </p:blipFill>
        <p:spPr bwMode="auto">
          <a:xfrm>
            <a:off x="2275840" y="1432560"/>
            <a:ext cx="8219440" cy="373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151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F4FEF-39B3-92DF-EAF8-B89FD460E11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65284" y="675323"/>
            <a:ext cx="10583695" cy="496282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3200" b="1" dirty="0">
                <a:solidFill>
                  <a:srgbClr val="C00000"/>
                </a:solidFill>
                <a:latin typeface="Candara" panose="020E0502030303020204" pitchFamily="34" charset="0"/>
              </a:rPr>
              <a:t>Experience &amp; Challenges</a:t>
            </a:r>
          </a:p>
          <a:p>
            <a:pPr marL="114300" indent="0">
              <a:buNone/>
            </a:pPr>
            <a:r>
              <a:rPr lang="en-IN" sz="2600" dirty="0">
                <a:solidFill>
                  <a:schemeClr val="tx1"/>
                </a:solidFill>
                <a:latin typeface="Candara" panose="020E0502030303020204" pitchFamily="34" charset="0"/>
              </a:rPr>
              <a:t>I felt so excited while executing this project. Also I learned to built an end-to-end data pipeline and understood the e-commerce pricing patterns. I learn how to strengthened EDA &amp; visualization skills.</a:t>
            </a:r>
          </a:p>
          <a:p>
            <a:pPr marL="114300" indent="0">
              <a:buNone/>
            </a:pPr>
            <a:r>
              <a:rPr lang="en-IN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Challenges I faced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>
                <a:latin typeface="Candara" panose="020E0502030303020204" pitchFamily="34" charset="0"/>
              </a:rPr>
              <a:t>Dynamic pages.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Candara" panose="020E0502030303020204" pitchFamily="34" charset="0"/>
              </a:rPr>
              <a:t>Having difficulties while collecting the data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>
                <a:latin typeface="Candara" panose="020E0502030303020204" pitchFamily="34" charset="0"/>
              </a:rPr>
              <a:t>Handling missing/inconsistent data</a:t>
            </a:r>
            <a:r>
              <a:rPr lang="en-IN" sz="2600" dirty="0"/>
              <a:t>.</a:t>
            </a:r>
            <a:endParaRPr lang="en-IN" sz="2600" dirty="0">
              <a:solidFill>
                <a:schemeClr val="tx1"/>
              </a:solidFill>
              <a:latin typeface="Candara" panose="020E0502030303020204" pitchFamily="34" charset="0"/>
            </a:endParaRPr>
          </a:p>
          <a:p>
            <a:pPr marL="114300" indent="0">
              <a:buNone/>
            </a:pPr>
            <a:endParaRPr lang="en-IN" sz="26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751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8AF88C-AB7A-D185-502B-E0935592E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4697" y="492674"/>
            <a:ext cx="10622605" cy="555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41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668</Words>
  <Application>Microsoft Office PowerPoint</Application>
  <PresentationFormat>Widescreen</PresentationFormat>
  <Paragraphs>90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Arial</vt:lpstr>
      <vt:lpstr>Lato Black</vt:lpstr>
      <vt:lpstr>Candara</vt:lpstr>
      <vt:lpstr>Wingdings</vt:lpstr>
      <vt:lpstr>Office Theme</vt:lpstr>
      <vt:lpstr>PowerPoint Presentation</vt:lpstr>
      <vt:lpstr>PowerPoint Presentation</vt:lpstr>
      <vt:lpstr>  AGENDA </vt:lpstr>
      <vt:lpstr>2. Objective of the Project </vt:lpstr>
      <vt:lpstr>4.Data Summary</vt:lpstr>
      <vt:lpstr>Exploratory Data Analysis 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Alala vikash</cp:lastModifiedBy>
  <cp:revision>6</cp:revision>
  <dcterms:created xsi:type="dcterms:W3CDTF">2021-02-16T05:19:01Z</dcterms:created>
  <dcterms:modified xsi:type="dcterms:W3CDTF">2025-09-21T08:20:14Z</dcterms:modified>
</cp:coreProperties>
</file>